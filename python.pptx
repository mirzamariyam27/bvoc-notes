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7" r:id="rId7"/>
    <p:sldId id="266" r:id="rId8"/>
    <p:sldId id="269" r:id="rId9"/>
    <p:sldId id="270" r:id="rId10"/>
    <p:sldId id="271" r:id="rId11"/>
    <p:sldId id="272" r:id="rId12"/>
    <p:sldId id="277" r:id="rId13"/>
    <p:sldId id="276" r:id="rId14"/>
    <p:sldId id="282" r:id="rId15"/>
    <p:sldId id="278" r:id="rId16"/>
    <p:sldId id="279" r:id="rId17"/>
    <p:sldId id="281" r:id="rId18"/>
    <p:sldId id="286" r:id="rId19"/>
    <p:sldId id="273" r:id="rId20"/>
    <p:sldId id="274" r:id="rId21"/>
    <p:sldId id="291" r:id="rId22"/>
    <p:sldId id="292" r:id="rId23"/>
    <p:sldId id="293" r:id="rId24"/>
    <p:sldId id="294" r:id="rId25"/>
    <p:sldId id="295" r:id="rId26"/>
    <p:sldId id="305" r:id="rId27"/>
    <p:sldId id="299" r:id="rId28"/>
    <p:sldId id="301" r:id="rId29"/>
    <p:sldId id="300" r:id="rId30"/>
    <p:sldId id="302" r:id="rId31"/>
    <p:sldId id="306" r:id="rId32"/>
    <p:sldId id="297" r:id="rId33"/>
    <p:sldId id="303" r:id="rId34"/>
    <p:sldId id="304" r:id="rId35"/>
    <p:sldId id="309" r:id="rId36"/>
    <p:sldId id="321" r:id="rId37"/>
    <p:sldId id="310" r:id="rId38"/>
    <p:sldId id="315" r:id="rId39"/>
    <p:sldId id="319" r:id="rId40"/>
    <p:sldId id="32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697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9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86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53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64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03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077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76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240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41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56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AFB96-9748-427E-870B-2BB1F4935974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B40B6-6CD1-4A6F-8600-4243AD7D4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24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Introduction to Python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Unit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11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Python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is a simple, general purpose, high level, and object-oriented programming language. </a:t>
            </a:r>
          </a:p>
          <a:p>
            <a:r>
              <a:rPr lang="en-US" dirty="0" smtClean="0"/>
              <a:t>Python is an interpreted scripting language.</a:t>
            </a:r>
          </a:p>
          <a:p>
            <a:r>
              <a:rPr lang="en-US" dirty="0" smtClean="0"/>
              <a:t>It was created by Guido van </a:t>
            </a:r>
            <a:r>
              <a:rPr lang="en-US" dirty="0" err="1" smtClean="0"/>
              <a:t>Rossum</a:t>
            </a:r>
            <a:r>
              <a:rPr lang="en-US" dirty="0" smtClean="0"/>
              <a:t>, and released in 1991.</a:t>
            </a:r>
          </a:p>
          <a:p>
            <a:r>
              <a:rPr lang="en-US" dirty="0" smtClean="0"/>
              <a:t>It is used for:</a:t>
            </a:r>
          </a:p>
          <a:p>
            <a:pPr lvl="1"/>
            <a:r>
              <a:rPr lang="en-US" dirty="0" smtClean="0"/>
              <a:t>web development (server-side), </a:t>
            </a:r>
          </a:p>
          <a:p>
            <a:pPr lvl="1"/>
            <a:r>
              <a:rPr lang="en-US" dirty="0" smtClean="0"/>
              <a:t>software development, </a:t>
            </a:r>
          </a:p>
          <a:p>
            <a:pPr lvl="1"/>
            <a:r>
              <a:rPr lang="en-US" dirty="0" smtClean="0"/>
              <a:t>mathematics,</a:t>
            </a:r>
          </a:p>
          <a:p>
            <a:pPr lvl="1"/>
            <a:r>
              <a:rPr lang="en-US" dirty="0" smtClean="0"/>
              <a:t>system scripting.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42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6"/>
            <a:ext cx="10515600" cy="565834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Python can be used on a server to create web applications.</a:t>
            </a:r>
          </a:p>
          <a:p>
            <a:r>
              <a:rPr lang="en-US" dirty="0" smtClean="0"/>
              <a:t>Python can connect to database systems. </a:t>
            </a:r>
          </a:p>
          <a:p>
            <a:r>
              <a:rPr lang="en-US" dirty="0" smtClean="0"/>
              <a:t>Python can be used to handle big data and perform complex mathematics.</a:t>
            </a:r>
          </a:p>
          <a:p>
            <a:r>
              <a:rPr lang="en-US" dirty="0" smtClean="0"/>
              <a:t>Python works on different platforms (Windows, Mac, Linux, Raspberry Pi, </a:t>
            </a:r>
            <a:r>
              <a:rPr lang="en-US" dirty="0" err="1" smtClean="0"/>
              <a:t>etc</a:t>
            </a:r>
            <a:r>
              <a:rPr lang="en-US" dirty="0" smtClean="0"/>
              <a:t>).</a:t>
            </a:r>
          </a:p>
          <a:p>
            <a:r>
              <a:rPr lang="en-US" dirty="0" smtClean="0"/>
              <a:t>Python has a simple syntax similar to the English language. </a:t>
            </a:r>
          </a:p>
          <a:p>
            <a:r>
              <a:rPr lang="en-US" dirty="0" smtClean="0"/>
              <a:t>Python can be treated in a procedural way, an object-oriented way.</a:t>
            </a:r>
          </a:p>
          <a:p>
            <a:r>
              <a:rPr lang="en-US" dirty="0" smtClean="0"/>
              <a:t>It can be used as a scripting language or can be compiled to byte-code for building large applications.</a:t>
            </a:r>
          </a:p>
          <a:p>
            <a:r>
              <a:rPr lang="en-US" dirty="0" smtClean="0"/>
              <a:t>It provides very high-level dynamic data types and supports dynamic type checking.</a:t>
            </a:r>
          </a:p>
          <a:p>
            <a:r>
              <a:rPr lang="en-US" dirty="0" smtClean="0"/>
              <a:t>It supports automatic garbage collection.</a:t>
            </a:r>
          </a:p>
          <a:p>
            <a:r>
              <a:rPr lang="en-US" dirty="0" smtClean="0"/>
              <a:t>It can be easily integrated with C, C++,Java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30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Python is also versatile and widely used in every technical field, such as Machine Learning, Artificial Intelligence, Web Development, Mobile Application, Desktop Application, Scientific Calculation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Data Analysis and Processing</a:t>
            </a:r>
          </a:p>
          <a:p>
            <a:r>
              <a:rPr lang="en-US" dirty="0" smtClean="0"/>
              <a:t>Artificial Intelligence</a:t>
            </a:r>
          </a:p>
          <a:p>
            <a:r>
              <a:rPr lang="en-US" dirty="0" smtClean="0"/>
              <a:t>Games</a:t>
            </a:r>
          </a:p>
          <a:p>
            <a:r>
              <a:rPr lang="en-US" dirty="0" smtClean="0"/>
              <a:t>Hardware/Sensor/Robots</a:t>
            </a:r>
          </a:p>
          <a:p>
            <a:r>
              <a:rPr lang="en-US" dirty="0" smtClean="0"/>
              <a:t>Desktop Applications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95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256" y="829338"/>
            <a:ext cx="10515600" cy="5475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Features:</a:t>
            </a:r>
          </a:p>
          <a:p>
            <a:r>
              <a:rPr lang="en-US" dirty="0" smtClean="0"/>
              <a:t>Easy-to-learn − Python has few keywords, simple structure, and a clearly defined syntax. </a:t>
            </a:r>
          </a:p>
          <a:p>
            <a:r>
              <a:rPr lang="en-US" dirty="0" smtClean="0"/>
              <a:t>Easy-to-read  </a:t>
            </a:r>
          </a:p>
          <a:p>
            <a:r>
              <a:rPr lang="en-US" dirty="0" smtClean="0"/>
              <a:t>Easy-to-maintain</a:t>
            </a:r>
          </a:p>
          <a:p>
            <a:r>
              <a:rPr lang="en-US" dirty="0" smtClean="0"/>
              <a:t>A broad standard library − Python's bulk of the library is very portable and cross-platform compatible on UNIX, Windows, and Macintosh.</a:t>
            </a:r>
          </a:p>
          <a:p>
            <a:r>
              <a:rPr lang="en-US" dirty="0" smtClean="0"/>
              <a:t>Interactive Mode − Python has support for an interactive mode which allows interactive testing and debugging of snippets of code.</a:t>
            </a:r>
          </a:p>
          <a:p>
            <a:r>
              <a:rPr lang="en-US" dirty="0" smtClean="0"/>
              <a:t> Portable − Python can run on a wide variety of hardware platforms and has the same interface on all platforms.</a:t>
            </a:r>
          </a:p>
        </p:txBody>
      </p:sp>
    </p:spTree>
    <p:extLst>
      <p:ext uri="{BB962C8B-B14F-4D97-AF65-F5344CB8AC3E}">
        <p14:creationId xmlns:p14="http://schemas.microsoft.com/office/powerpoint/2010/main" val="148742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Interactive mode </a:t>
            </a:r>
            <a:r>
              <a:rPr lang="en-IN" dirty="0"/>
              <a:t>Programming</a:t>
            </a:r>
            <a:endParaRPr lang="en-IN" dirty="0" smtClean="0"/>
          </a:p>
          <a:p>
            <a:r>
              <a:rPr lang="en-IN" dirty="0"/>
              <a:t>Script Mode Programming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7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Comments can be used to </a:t>
            </a:r>
            <a:r>
              <a:rPr lang="en-US" dirty="0" smtClean="0"/>
              <a:t>improve readability of the program.</a:t>
            </a:r>
            <a:endParaRPr lang="en-US" dirty="0"/>
          </a:p>
          <a:p>
            <a:r>
              <a:rPr lang="en-US" dirty="0" smtClean="0"/>
              <a:t>They are ignored by the interpreter.</a:t>
            </a:r>
            <a:endParaRPr lang="en-US" dirty="0"/>
          </a:p>
          <a:p>
            <a:r>
              <a:rPr lang="en-IN" dirty="0"/>
              <a:t>Comments starts with a </a:t>
            </a:r>
            <a:r>
              <a:rPr lang="en-IN" dirty="0" smtClean="0"/>
              <a:t>#</a:t>
            </a:r>
          </a:p>
          <a:p>
            <a:r>
              <a:rPr lang="en-IN" dirty="0" err="1" smtClean="0"/>
              <a:t>Eg</a:t>
            </a:r>
            <a:r>
              <a:rPr lang="en-IN" dirty="0" smtClean="0"/>
              <a:t>:</a:t>
            </a:r>
          </a:p>
          <a:p>
            <a:pPr lvl="1"/>
            <a:r>
              <a:rPr lang="en-IN" dirty="0"/>
              <a:t># First comment</a:t>
            </a:r>
          </a:p>
          <a:p>
            <a:pPr lvl="1"/>
            <a:r>
              <a:rPr lang="en-IN" dirty="0" smtClean="0"/>
              <a:t>print </a:t>
            </a:r>
            <a:r>
              <a:rPr lang="en-IN" dirty="0"/>
              <a:t>("Hello, Python</a:t>
            </a:r>
            <a:r>
              <a:rPr lang="en-IN" dirty="0" smtClean="0"/>
              <a:t>!")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46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Identifiers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Python identifier is a name used to identify a variable, function, class, module or other object.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identifier starts with a letter </a:t>
            </a:r>
            <a:r>
              <a:rPr lang="en-US" b="1" dirty="0"/>
              <a:t>A to Z </a:t>
            </a:r>
            <a:r>
              <a:rPr lang="en-US" dirty="0"/>
              <a:t>or </a:t>
            </a:r>
            <a:r>
              <a:rPr lang="en-US" b="1" dirty="0"/>
              <a:t>a to z </a:t>
            </a:r>
            <a:r>
              <a:rPr lang="en-US" dirty="0"/>
              <a:t>or an underscore (_) followed by zero or more letters, underscores and digits (0 to 9</a:t>
            </a:r>
            <a:r>
              <a:rPr lang="en-US" dirty="0" smtClean="0"/>
              <a:t>).</a:t>
            </a:r>
          </a:p>
          <a:p>
            <a:r>
              <a:rPr lang="en-US" dirty="0"/>
              <a:t>Python does not allow punctuation characters such as @, $, and % within identifiers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Python </a:t>
            </a:r>
            <a:r>
              <a:rPr lang="en-US" dirty="0"/>
              <a:t>is a case sensitive programming language</a:t>
            </a:r>
            <a:r>
              <a:rPr lang="en-US" dirty="0" smtClean="0"/>
              <a:t>.   </a:t>
            </a:r>
            <a:endParaRPr lang="en-US" dirty="0"/>
          </a:p>
          <a:p>
            <a:r>
              <a:rPr lang="en-US" dirty="0" smtClean="0"/>
              <a:t>A, a1 , _a, _1a,</a:t>
            </a:r>
          </a:p>
          <a:p>
            <a:r>
              <a:rPr lang="en-US" dirty="0" smtClean="0"/>
              <a:t> %1, #1  #a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18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Identifier conventions   </a:t>
            </a:r>
            <a:r>
              <a:rPr lang="en-IN" dirty="0" err="1" smtClean="0"/>
              <a:t>A__a</a:t>
            </a:r>
            <a:r>
              <a:rPr lang="en-IN" dirty="0" smtClean="0"/>
              <a:t>-&gt;B 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names start with an uppercase letter. All other identifiers start with a lowercase letter</a:t>
            </a:r>
            <a:r>
              <a:rPr lang="en-US" dirty="0" smtClean="0"/>
              <a:t>.     </a:t>
            </a:r>
            <a:endParaRPr lang="en-US" dirty="0"/>
          </a:p>
          <a:p>
            <a:r>
              <a:rPr lang="en-US" dirty="0"/>
              <a:t>Starting an identifier with a single leading underscore indicates that the identifier is private</a:t>
            </a:r>
            <a:r>
              <a:rPr lang="en-US" dirty="0" smtClean="0"/>
              <a:t>.  _a    </a:t>
            </a:r>
            <a:r>
              <a:rPr lang="en-US" dirty="0" err="1" smtClean="0"/>
              <a:t>a_b</a:t>
            </a:r>
            <a:r>
              <a:rPr lang="en-US" dirty="0" smtClean="0"/>
              <a:t>       </a:t>
            </a:r>
            <a:endParaRPr lang="en-US" dirty="0"/>
          </a:p>
          <a:p>
            <a:r>
              <a:rPr lang="en-US" dirty="0"/>
              <a:t>Starting an identifier with two leading underscores indicates a strong private identifier</a:t>
            </a:r>
            <a:r>
              <a:rPr lang="en-US" dirty="0" smtClean="0"/>
              <a:t>.  __a</a:t>
            </a:r>
            <a:endParaRPr lang="en-US" dirty="0"/>
          </a:p>
          <a:p>
            <a:r>
              <a:rPr lang="en-US" dirty="0"/>
              <a:t>If the identifier also ends with two trailing underscores, the identifier is a language-defined special name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abc</a:t>
            </a:r>
            <a:r>
              <a:rPr lang="en-US" dirty="0" smtClean="0"/>
              <a:t>__                             __</a:t>
            </a:r>
            <a:r>
              <a:rPr lang="en-US" dirty="0" err="1" smtClean="0"/>
              <a:t>builtin</a:t>
            </a:r>
            <a:r>
              <a:rPr lang="en-US" dirty="0" smtClean="0"/>
              <a:t>__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16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Keywords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8425"/>
            <a:ext cx="10515600" cy="2033516"/>
          </a:xfrm>
        </p:spPr>
        <p:txBody>
          <a:bodyPr/>
          <a:lstStyle/>
          <a:p>
            <a:r>
              <a:rPr lang="en-US" dirty="0"/>
              <a:t>These are reserved words </a:t>
            </a:r>
            <a:endParaRPr lang="en-US" dirty="0" smtClean="0"/>
          </a:p>
          <a:p>
            <a:r>
              <a:rPr lang="en-US" dirty="0" smtClean="0"/>
              <a:t>cannot </a:t>
            </a:r>
            <a:r>
              <a:rPr lang="en-US" dirty="0"/>
              <a:t>use them as constants or variables or any other identifier names. </a:t>
            </a:r>
            <a:endParaRPr lang="en-US" dirty="0" smtClean="0"/>
          </a:p>
          <a:p>
            <a:r>
              <a:rPr lang="en-US" dirty="0" smtClean="0"/>
              <a:t>All </a:t>
            </a:r>
            <a:r>
              <a:rPr lang="en-US" dirty="0"/>
              <a:t>the Python keywords contain lowercase letters only.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183643" y="3251411"/>
            <a:ext cx="768368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and	</a:t>
            </a:r>
            <a:r>
              <a:rPr lang="en-US" sz="2000" dirty="0" smtClean="0"/>
              <a:t>	exec</a:t>
            </a:r>
            <a:r>
              <a:rPr lang="en-US" sz="2000" dirty="0"/>
              <a:t>	</a:t>
            </a:r>
            <a:r>
              <a:rPr lang="en-US" sz="2000" dirty="0" smtClean="0"/>
              <a:t>	not</a:t>
            </a:r>
            <a:endParaRPr lang="en-US" sz="2000" dirty="0"/>
          </a:p>
          <a:p>
            <a:r>
              <a:rPr lang="en-US" sz="2000" dirty="0"/>
              <a:t>as	</a:t>
            </a:r>
            <a:r>
              <a:rPr lang="en-US" sz="2000" dirty="0" smtClean="0"/>
              <a:t>	finally</a:t>
            </a:r>
            <a:r>
              <a:rPr lang="en-US" sz="2000" dirty="0"/>
              <a:t>	</a:t>
            </a:r>
            <a:r>
              <a:rPr lang="en-US" sz="2000" dirty="0" smtClean="0"/>
              <a:t>	or</a:t>
            </a:r>
            <a:endParaRPr lang="en-US" sz="2000" dirty="0"/>
          </a:p>
          <a:p>
            <a:r>
              <a:rPr lang="en-US" sz="2000" dirty="0"/>
              <a:t>assert	</a:t>
            </a:r>
            <a:r>
              <a:rPr lang="en-US" sz="2000" dirty="0" smtClean="0"/>
              <a:t>	for</a:t>
            </a:r>
            <a:r>
              <a:rPr lang="en-US" sz="2000" dirty="0"/>
              <a:t>	</a:t>
            </a:r>
            <a:r>
              <a:rPr lang="en-US" sz="2000" dirty="0" smtClean="0"/>
              <a:t>	pass</a:t>
            </a:r>
            <a:endParaRPr lang="en-US" sz="2000" dirty="0"/>
          </a:p>
          <a:p>
            <a:r>
              <a:rPr lang="en-US" sz="2000" dirty="0"/>
              <a:t>break	</a:t>
            </a:r>
            <a:r>
              <a:rPr lang="en-US" sz="2000" dirty="0" smtClean="0"/>
              <a:t>	from</a:t>
            </a:r>
            <a:r>
              <a:rPr lang="en-US" sz="2000" dirty="0"/>
              <a:t>	</a:t>
            </a:r>
            <a:r>
              <a:rPr lang="en-US" sz="2000" dirty="0" smtClean="0"/>
              <a:t>	print</a:t>
            </a:r>
            <a:endParaRPr lang="en-US" sz="2000" dirty="0"/>
          </a:p>
          <a:p>
            <a:r>
              <a:rPr lang="en-US" sz="2000" dirty="0"/>
              <a:t>class	</a:t>
            </a:r>
            <a:r>
              <a:rPr lang="en-US" sz="2000" dirty="0" smtClean="0"/>
              <a:t>	global</a:t>
            </a:r>
            <a:r>
              <a:rPr lang="en-US" sz="2000" dirty="0"/>
              <a:t>	</a:t>
            </a:r>
            <a:r>
              <a:rPr lang="en-US" sz="2000" dirty="0" smtClean="0"/>
              <a:t>	raise</a:t>
            </a:r>
            <a:endParaRPr lang="en-US" sz="2000" dirty="0"/>
          </a:p>
          <a:p>
            <a:r>
              <a:rPr lang="en-US" sz="2000" dirty="0" smtClean="0"/>
              <a:t>Continue 	if</a:t>
            </a:r>
            <a:r>
              <a:rPr lang="en-US" sz="2000" dirty="0"/>
              <a:t>	</a:t>
            </a:r>
            <a:r>
              <a:rPr lang="en-US" sz="2000" dirty="0" smtClean="0"/>
              <a:t>	return</a:t>
            </a:r>
            <a:endParaRPr lang="en-US" sz="2000" dirty="0"/>
          </a:p>
          <a:p>
            <a:r>
              <a:rPr lang="en-US" sz="2000" dirty="0" err="1"/>
              <a:t>def</a:t>
            </a:r>
            <a:r>
              <a:rPr lang="en-US" sz="2000" dirty="0"/>
              <a:t>	</a:t>
            </a:r>
            <a:r>
              <a:rPr lang="en-US" sz="2000" dirty="0" smtClean="0"/>
              <a:t>	import</a:t>
            </a:r>
            <a:r>
              <a:rPr lang="en-US" sz="2000" dirty="0"/>
              <a:t>	</a:t>
            </a:r>
            <a:r>
              <a:rPr lang="en-US" sz="2000" dirty="0" smtClean="0"/>
              <a:t>	try</a:t>
            </a:r>
            <a:endParaRPr lang="en-US" sz="2000" dirty="0"/>
          </a:p>
          <a:p>
            <a:r>
              <a:rPr lang="en-US" sz="2000" dirty="0"/>
              <a:t>del	</a:t>
            </a:r>
            <a:r>
              <a:rPr lang="en-US" sz="2000" dirty="0" smtClean="0"/>
              <a:t>	in</a:t>
            </a:r>
            <a:r>
              <a:rPr lang="en-US" sz="2000" dirty="0"/>
              <a:t>	</a:t>
            </a:r>
            <a:r>
              <a:rPr lang="en-US" sz="2000" dirty="0" smtClean="0"/>
              <a:t>	while</a:t>
            </a:r>
            <a:endParaRPr lang="en-US" sz="2000" dirty="0"/>
          </a:p>
          <a:p>
            <a:r>
              <a:rPr lang="en-US" sz="2000" dirty="0" err="1"/>
              <a:t>elif</a:t>
            </a:r>
            <a:r>
              <a:rPr lang="en-US" sz="2000" dirty="0"/>
              <a:t>	</a:t>
            </a:r>
            <a:r>
              <a:rPr lang="en-US" sz="2000" dirty="0" smtClean="0"/>
              <a:t>	is</a:t>
            </a:r>
            <a:r>
              <a:rPr lang="en-US" sz="2000" dirty="0"/>
              <a:t>	</a:t>
            </a:r>
            <a:r>
              <a:rPr lang="en-US" sz="2000" dirty="0" smtClean="0"/>
              <a:t>	with</a:t>
            </a:r>
            <a:endParaRPr lang="en-US" sz="2000" dirty="0"/>
          </a:p>
          <a:p>
            <a:r>
              <a:rPr lang="en-US" sz="2000" dirty="0"/>
              <a:t>else	</a:t>
            </a:r>
            <a:r>
              <a:rPr lang="en-US" sz="2000" dirty="0" smtClean="0"/>
              <a:t>	lambda</a:t>
            </a:r>
            <a:r>
              <a:rPr lang="en-US" sz="2000" dirty="0"/>
              <a:t>	</a:t>
            </a:r>
            <a:r>
              <a:rPr lang="en-US" sz="2000" dirty="0" smtClean="0"/>
              <a:t>	yield</a:t>
            </a:r>
            <a:endParaRPr lang="en-US" sz="2000" dirty="0"/>
          </a:p>
          <a:p>
            <a:r>
              <a:rPr lang="en-US" sz="2000" dirty="0"/>
              <a:t>except		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097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Variables  a=“</a:t>
            </a:r>
            <a:r>
              <a:rPr lang="en-IN" dirty="0" err="1" smtClean="0"/>
              <a:t>abcd</a:t>
            </a:r>
            <a:r>
              <a:rPr lang="en-IN" dirty="0" smtClean="0"/>
              <a:t>”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are </a:t>
            </a:r>
            <a:r>
              <a:rPr lang="en-US" dirty="0" smtClean="0"/>
              <a:t>reserved </a:t>
            </a:r>
            <a:r>
              <a:rPr lang="en-US" dirty="0"/>
              <a:t>memory locations to store values. </a:t>
            </a:r>
          </a:p>
          <a:p>
            <a:r>
              <a:rPr lang="en-US" dirty="0"/>
              <a:t>Based on the data type of a variable, the interpreter allocates memory and decides what can be stored in the reserved memory. </a:t>
            </a:r>
            <a:endParaRPr lang="en-US" dirty="0" smtClean="0"/>
          </a:p>
          <a:p>
            <a:r>
              <a:rPr lang="en-US" dirty="0" smtClean="0"/>
              <a:t>Therefore</a:t>
            </a:r>
            <a:r>
              <a:rPr lang="en-US" dirty="0"/>
              <a:t>, by assigning different data types to the variables, you can store integers, decimals or characters in these variables.</a:t>
            </a:r>
          </a:p>
          <a:p>
            <a:r>
              <a:rPr lang="en-IN" dirty="0"/>
              <a:t>x = 5</a:t>
            </a:r>
            <a:br>
              <a:rPr lang="en-IN" dirty="0"/>
            </a:br>
            <a:r>
              <a:rPr lang="en-IN" dirty="0"/>
              <a:t>y = "John"</a:t>
            </a:r>
            <a:br>
              <a:rPr lang="en-IN" dirty="0"/>
            </a:br>
            <a:r>
              <a:rPr lang="en-IN" dirty="0"/>
              <a:t>print(x)</a:t>
            </a:r>
            <a:br>
              <a:rPr lang="en-IN" dirty="0"/>
            </a:br>
            <a:r>
              <a:rPr lang="en-IN" dirty="0"/>
              <a:t>print(y)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337" y="4160520"/>
            <a:ext cx="5422583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83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Global 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74135"/>
          </a:xfrm>
        </p:spPr>
        <p:txBody>
          <a:bodyPr/>
          <a:lstStyle/>
          <a:p>
            <a:r>
              <a:rPr lang="en-US" dirty="0"/>
              <a:t>Variables that are created outside of a </a:t>
            </a:r>
            <a:r>
              <a:rPr lang="en-US" dirty="0" smtClean="0"/>
              <a:t>function </a:t>
            </a:r>
            <a:r>
              <a:rPr lang="en-US" dirty="0"/>
              <a:t>are known as global variables.</a:t>
            </a:r>
          </a:p>
          <a:p>
            <a:r>
              <a:rPr lang="en-US" dirty="0"/>
              <a:t>Global variables can be used by everyone, both inside of functions and outside.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457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Types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676" y="2060811"/>
            <a:ext cx="9389658" cy="373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03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Return the data type of a variable</a:t>
            </a:r>
          </a:p>
          <a:p>
            <a:endParaRPr lang="en-IN" dirty="0"/>
          </a:p>
          <a:p>
            <a:r>
              <a:rPr lang="en-IN" dirty="0" smtClean="0"/>
              <a:t>X=10</a:t>
            </a:r>
          </a:p>
          <a:p>
            <a:r>
              <a:rPr lang="en-IN" dirty="0" smtClean="0"/>
              <a:t>Type(X)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14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Number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data types store numeric values. Number objects are created when you assign a value to </a:t>
            </a:r>
            <a:r>
              <a:rPr lang="en-US" dirty="0" smtClean="0"/>
              <a:t>them.</a:t>
            </a:r>
          </a:p>
          <a:p>
            <a:pPr marL="457200" lvl="1" indent="0">
              <a:buNone/>
            </a:pPr>
            <a:r>
              <a:rPr lang="en-IN" dirty="0"/>
              <a:t>var1 = 1</a:t>
            </a:r>
          </a:p>
          <a:p>
            <a:pPr marL="457200" lvl="1" indent="0">
              <a:buNone/>
            </a:pPr>
            <a:r>
              <a:rPr lang="en-IN" dirty="0"/>
              <a:t>var2 = </a:t>
            </a:r>
            <a:r>
              <a:rPr lang="en-IN" dirty="0" smtClean="0"/>
              <a:t>10.1</a:t>
            </a:r>
          </a:p>
          <a:p>
            <a:r>
              <a:rPr lang="en-IN" dirty="0" smtClean="0"/>
              <a:t>Remove the variable using  del command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del </a:t>
            </a:r>
            <a:r>
              <a:rPr lang="en-IN" dirty="0" smtClean="0"/>
              <a:t>var1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del </a:t>
            </a:r>
            <a:r>
              <a:rPr lang="en-IN" dirty="0" err="1"/>
              <a:t>var_a</a:t>
            </a:r>
            <a:r>
              <a:rPr lang="en-IN" dirty="0"/>
              <a:t>, </a:t>
            </a:r>
            <a:r>
              <a:rPr lang="en-IN" dirty="0" err="1"/>
              <a:t>var_b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664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 supports four different numerical types −</a:t>
            </a:r>
          </a:p>
          <a:p>
            <a:r>
              <a:rPr lang="en-US" dirty="0" err="1"/>
              <a:t>int</a:t>
            </a:r>
            <a:r>
              <a:rPr lang="en-US" dirty="0"/>
              <a:t> (signed integers)</a:t>
            </a:r>
          </a:p>
          <a:p>
            <a:r>
              <a:rPr lang="en-US" dirty="0"/>
              <a:t>long (long integers, they can also be represented in octal and hexadecimal)</a:t>
            </a:r>
          </a:p>
          <a:p>
            <a:r>
              <a:rPr lang="en-US" dirty="0"/>
              <a:t>float (floating point real values)</a:t>
            </a:r>
          </a:p>
          <a:p>
            <a:r>
              <a:rPr lang="en-US" dirty="0"/>
              <a:t>complex (complex numbers)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519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boolean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Integers contain Boolean Type, which is a unique data type, consisting of two constants, </a:t>
            </a:r>
            <a:r>
              <a:rPr lang="en-US" b="1" dirty="0"/>
              <a:t>True </a:t>
            </a:r>
            <a:r>
              <a:rPr lang="en-US" dirty="0"/>
              <a:t>&amp;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  <a:p>
            <a:r>
              <a:rPr lang="en-US" dirty="0"/>
              <a:t>A Boolean True value is Non-Zero, Non-Null and </a:t>
            </a:r>
            <a:r>
              <a:rPr lang="en-US" dirty="0" smtClean="0"/>
              <a:t>Non-empty</a:t>
            </a:r>
          </a:p>
          <a:p>
            <a:endParaRPr lang="en-US" dirty="0"/>
          </a:p>
          <a:p>
            <a:r>
              <a:rPr lang="en-IN" dirty="0"/>
              <a:t>flag = True</a:t>
            </a:r>
          </a:p>
          <a:p>
            <a:r>
              <a:rPr lang="en-IN" dirty="0" smtClean="0"/>
              <a:t>Print(type(flag))</a:t>
            </a:r>
            <a:endParaRPr lang="en-IN" dirty="0"/>
          </a:p>
          <a:p>
            <a:r>
              <a:rPr lang="en-IN" dirty="0"/>
              <a:t>&lt;type 'bool'&gt;</a:t>
            </a:r>
          </a:p>
        </p:txBody>
      </p:sp>
    </p:spTree>
    <p:extLst>
      <p:ext uri="{BB962C8B-B14F-4D97-AF65-F5344CB8AC3E}">
        <p14:creationId xmlns:p14="http://schemas.microsoft.com/office/powerpoint/2010/main" val="2556364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US" dirty="0"/>
              <a:t>This is special data type with single value.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used to signify the absence of value/false in a situation. </a:t>
            </a:r>
            <a:endParaRPr lang="en-US" dirty="0" smtClean="0"/>
          </a:p>
          <a:p>
            <a:r>
              <a:rPr lang="en-US" dirty="0" smtClean="0"/>
              <a:t>It</a:t>
            </a:r>
            <a:r>
              <a:rPr lang="en-IN" dirty="0" smtClean="0"/>
              <a:t>is </a:t>
            </a:r>
            <a:r>
              <a:rPr lang="en-IN" dirty="0"/>
              <a:t>represented by </a:t>
            </a:r>
            <a:r>
              <a:rPr lang="en-IN" dirty="0" smtClean="0"/>
              <a:t>“</a:t>
            </a:r>
            <a:r>
              <a:rPr lang="en-IN" b="1" dirty="0"/>
              <a:t>N</a:t>
            </a:r>
            <a:r>
              <a:rPr lang="en-IN" b="1" dirty="0" smtClean="0"/>
              <a:t>one</a:t>
            </a:r>
            <a:r>
              <a:rPr lang="en-IN" b="1" dirty="0"/>
              <a:t>”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1993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Assigning Values to </a:t>
            </a:r>
            <a:r>
              <a:rPr lang="en-US" dirty="0" smtClean="0"/>
              <a:t>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7187"/>
          </a:xfrm>
        </p:spPr>
        <p:txBody>
          <a:bodyPr>
            <a:normAutofit/>
          </a:bodyPr>
          <a:lstStyle/>
          <a:p>
            <a:r>
              <a:rPr lang="en-US" dirty="0" smtClean="0"/>
              <a:t>Python </a:t>
            </a:r>
            <a:r>
              <a:rPr lang="en-US" dirty="0"/>
              <a:t>variables do not need explicit declaration to reserve memory space.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declaration happens automatically when you assign a value to a variable.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equal sign (=) is used to assign values to variables.</a:t>
            </a:r>
          </a:p>
          <a:p>
            <a:r>
              <a:rPr lang="en-US" dirty="0"/>
              <a:t>The operand to the left of the = operator is the name of the variable and the operand to the right of the = operator is the value stored in the variable.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counter = 100          # An integer assignment</a:t>
            </a:r>
          </a:p>
          <a:p>
            <a:pPr marL="457200" lvl="1" indent="0">
              <a:buNone/>
            </a:pPr>
            <a:r>
              <a:rPr lang="en-US" dirty="0"/>
              <a:t>miles   = 1000.0       # A floating point</a:t>
            </a:r>
          </a:p>
          <a:p>
            <a:pPr marL="457200" lvl="1" indent="0">
              <a:buNone/>
            </a:pPr>
            <a:r>
              <a:rPr lang="en-US" dirty="0"/>
              <a:t>name    = "John"       # A string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509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</a:t>
            </a:r>
            <a:r>
              <a:rPr lang="en-IN" dirty="0" smtClean="0"/>
              <a:t>Assignment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= b = c = </a:t>
            </a:r>
            <a:r>
              <a:rPr lang="en-IN" dirty="0" smtClean="0"/>
              <a:t>1</a:t>
            </a:r>
            <a:endParaRPr lang="en-IN" dirty="0"/>
          </a:p>
          <a:p>
            <a:r>
              <a:rPr lang="en-US" dirty="0"/>
              <a:t>a, b, c = 1, 2, "</a:t>
            </a:r>
            <a:r>
              <a:rPr lang="en-US" dirty="0" smtClean="0"/>
              <a:t>john“  chaining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38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8549"/>
            <a:ext cx="10515600" cy="4648414"/>
          </a:xfrm>
        </p:spPr>
        <p:txBody>
          <a:bodyPr>
            <a:normAutofit/>
          </a:bodyPr>
          <a:lstStyle/>
          <a:p>
            <a:r>
              <a:rPr lang="en-US" dirty="0"/>
              <a:t>Operators are used to perform operations on variables and values.</a:t>
            </a:r>
          </a:p>
          <a:p>
            <a:r>
              <a:rPr lang="en-US" dirty="0"/>
              <a:t>Python divides the operators in the following groups:</a:t>
            </a:r>
          </a:p>
          <a:p>
            <a:pPr marL="457200" lvl="1" indent="0">
              <a:buNone/>
            </a:pPr>
            <a:r>
              <a:rPr lang="en-US" sz="2800" dirty="0"/>
              <a:t>Arithmetic </a:t>
            </a:r>
            <a:r>
              <a:rPr lang="en-US" sz="2800" dirty="0" smtClean="0"/>
              <a:t>operators</a:t>
            </a:r>
          </a:p>
          <a:p>
            <a:pPr marL="457200" lvl="1" indent="0">
              <a:buNone/>
            </a:pPr>
            <a:r>
              <a:rPr lang="en-US" sz="2800" dirty="0"/>
              <a:t>Comparison operators</a:t>
            </a:r>
          </a:p>
          <a:p>
            <a:pPr marL="457200" lvl="1" indent="0">
              <a:buNone/>
            </a:pPr>
            <a:r>
              <a:rPr lang="en-US" sz="2800" dirty="0"/>
              <a:t>Logical operators</a:t>
            </a:r>
          </a:p>
          <a:p>
            <a:pPr marL="457200" lvl="1" indent="0">
              <a:buNone/>
            </a:pPr>
            <a:r>
              <a:rPr lang="en-US" sz="2800" dirty="0"/>
              <a:t>Bitwise </a:t>
            </a:r>
            <a:r>
              <a:rPr lang="en-US" sz="2800" dirty="0" smtClean="0"/>
              <a:t>operators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Assignment operators</a:t>
            </a:r>
          </a:p>
          <a:p>
            <a:pPr marL="457200" lvl="1" indent="0">
              <a:buNone/>
            </a:pPr>
            <a:r>
              <a:rPr lang="en-US" sz="2800" dirty="0" smtClean="0"/>
              <a:t>Identity </a:t>
            </a:r>
            <a:r>
              <a:rPr lang="en-US" sz="2800" dirty="0"/>
              <a:t>operators</a:t>
            </a:r>
          </a:p>
          <a:p>
            <a:pPr marL="457200" lvl="1" indent="0">
              <a:buNone/>
            </a:pPr>
            <a:r>
              <a:rPr lang="en-US" sz="2800" dirty="0"/>
              <a:t>Membership operators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19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7546"/>
            <a:ext cx="10515600" cy="5849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Arithmetic </a:t>
            </a:r>
            <a:r>
              <a:rPr lang="en-US" dirty="0" smtClean="0"/>
              <a:t>operators</a:t>
            </a:r>
          </a:p>
          <a:p>
            <a:r>
              <a:rPr lang="en-US" dirty="0" smtClean="0"/>
              <a:t> </a:t>
            </a:r>
            <a:r>
              <a:rPr lang="en-US" dirty="0"/>
              <a:t>used with numeric values to perform common mathematical operations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Operator </a:t>
            </a:r>
            <a:r>
              <a:rPr lang="en-US" dirty="0"/>
              <a:t>	Name 	</a:t>
            </a:r>
            <a:r>
              <a:rPr lang="en-US" dirty="0" smtClean="0"/>
              <a:t>	Example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+ </a:t>
            </a:r>
            <a:r>
              <a:rPr lang="en-US" dirty="0"/>
              <a:t>	Addition 	</a:t>
            </a:r>
            <a:r>
              <a:rPr lang="en-US" dirty="0" smtClean="0"/>
              <a:t>	x </a:t>
            </a:r>
            <a:r>
              <a:rPr lang="en-US" dirty="0"/>
              <a:t>+ y 	</a:t>
            </a:r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	Subtraction 	</a:t>
            </a:r>
            <a:r>
              <a:rPr lang="en-US" dirty="0" smtClean="0"/>
              <a:t>	x </a:t>
            </a:r>
            <a:r>
              <a:rPr lang="en-US" dirty="0"/>
              <a:t>- y 	</a:t>
            </a:r>
          </a:p>
          <a:p>
            <a:pPr marL="0" indent="0">
              <a:buNone/>
            </a:pPr>
            <a:r>
              <a:rPr lang="en-US" dirty="0" smtClean="0"/>
              <a:t>	* </a:t>
            </a:r>
            <a:r>
              <a:rPr lang="en-US" dirty="0"/>
              <a:t>	Multiplication 	x * y 	</a:t>
            </a:r>
          </a:p>
          <a:p>
            <a:pPr marL="0" indent="0">
              <a:buNone/>
            </a:pPr>
            <a:r>
              <a:rPr lang="en-US" dirty="0" smtClean="0"/>
              <a:t>	/ </a:t>
            </a:r>
            <a:r>
              <a:rPr lang="en-US" dirty="0"/>
              <a:t>	Division 	</a:t>
            </a:r>
            <a:r>
              <a:rPr lang="en-US" dirty="0" smtClean="0"/>
              <a:t>	x </a:t>
            </a:r>
            <a:r>
              <a:rPr lang="en-US" dirty="0"/>
              <a:t>/ y 	</a:t>
            </a:r>
          </a:p>
          <a:p>
            <a:pPr marL="0" indent="0">
              <a:buNone/>
            </a:pPr>
            <a:r>
              <a:rPr lang="en-US" dirty="0" smtClean="0"/>
              <a:t>	% </a:t>
            </a:r>
            <a:r>
              <a:rPr lang="en-US" dirty="0"/>
              <a:t>	Modulus 	</a:t>
            </a:r>
            <a:r>
              <a:rPr lang="en-US" dirty="0" smtClean="0"/>
              <a:t>	x </a:t>
            </a:r>
            <a:r>
              <a:rPr lang="en-US" dirty="0"/>
              <a:t>% y 	</a:t>
            </a:r>
          </a:p>
          <a:p>
            <a:pPr marL="0" indent="0">
              <a:buNone/>
            </a:pPr>
            <a:r>
              <a:rPr lang="en-US" dirty="0" smtClean="0"/>
              <a:t>	Note: in python2 :   5/2  returns 2 where as in python3 5/2 returns 2.5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435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Comparison 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3015"/>
            <a:ext cx="10515600" cy="4743948"/>
          </a:xfrm>
        </p:spPr>
        <p:txBody>
          <a:bodyPr>
            <a:normAutofit fontScale="92500"/>
          </a:bodyPr>
          <a:lstStyle/>
          <a:p>
            <a:r>
              <a:rPr lang="en-US" dirty="0"/>
              <a:t>These operators compare the values on either side of them and decide the relation among them. They are also called Relational operators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Returns a true or false value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== 	</a:t>
            </a:r>
            <a:r>
              <a:rPr lang="en-US" dirty="0" smtClean="0"/>
              <a:t>	Equal </a:t>
            </a:r>
            <a:r>
              <a:rPr lang="en-US" dirty="0"/>
              <a:t>	</a:t>
            </a:r>
            <a:r>
              <a:rPr lang="en-US" dirty="0" smtClean="0"/>
              <a:t>			x </a:t>
            </a:r>
            <a:r>
              <a:rPr lang="en-US" dirty="0"/>
              <a:t>== y 	</a:t>
            </a:r>
          </a:p>
          <a:p>
            <a:pPr marL="0" indent="0">
              <a:buNone/>
            </a:pPr>
            <a:r>
              <a:rPr lang="en-US" dirty="0"/>
              <a:t>!= 	</a:t>
            </a:r>
            <a:r>
              <a:rPr lang="en-US" dirty="0" smtClean="0"/>
              <a:t>	Not </a:t>
            </a:r>
            <a:r>
              <a:rPr lang="en-US" dirty="0"/>
              <a:t>equal 	</a:t>
            </a:r>
            <a:r>
              <a:rPr lang="en-US" dirty="0" smtClean="0"/>
              <a:t>		x </a:t>
            </a:r>
            <a:r>
              <a:rPr lang="en-US" dirty="0"/>
              <a:t>!= y 	</a:t>
            </a:r>
          </a:p>
          <a:p>
            <a:pPr marL="0" indent="0">
              <a:buNone/>
            </a:pPr>
            <a:r>
              <a:rPr lang="en-US" dirty="0"/>
              <a:t>&gt; 	</a:t>
            </a:r>
            <a:r>
              <a:rPr lang="en-US" dirty="0" smtClean="0"/>
              <a:t>	Greater </a:t>
            </a:r>
            <a:r>
              <a:rPr lang="en-US" dirty="0"/>
              <a:t>than 	</a:t>
            </a:r>
            <a:r>
              <a:rPr lang="en-US" dirty="0" smtClean="0"/>
              <a:t>		x </a:t>
            </a:r>
            <a:r>
              <a:rPr lang="en-US" dirty="0"/>
              <a:t>&gt; y 	</a:t>
            </a:r>
          </a:p>
          <a:p>
            <a:pPr marL="0" indent="0">
              <a:buNone/>
            </a:pPr>
            <a:r>
              <a:rPr lang="en-US" dirty="0"/>
              <a:t>&lt; 	</a:t>
            </a:r>
            <a:r>
              <a:rPr lang="en-US" dirty="0" smtClean="0"/>
              <a:t>	Less </a:t>
            </a:r>
            <a:r>
              <a:rPr lang="en-US" dirty="0"/>
              <a:t>than 	</a:t>
            </a:r>
            <a:r>
              <a:rPr lang="en-US" dirty="0" smtClean="0"/>
              <a:t>		x </a:t>
            </a:r>
            <a:r>
              <a:rPr lang="en-US" dirty="0"/>
              <a:t>&lt; y 	</a:t>
            </a:r>
          </a:p>
          <a:p>
            <a:pPr marL="0" indent="0">
              <a:buNone/>
            </a:pPr>
            <a:r>
              <a:rPr lang="en-US" dirty="0"/>
              <a:t>&gt;= 	</a:t>
            </a:r>
            <a:r>
              <a:rPr lang="en-US" dirty="0" smtClean="0"/>
              <a:t>	Greater </a:t>
            </a:r>
            <a:r>
              <a:rPr lang="en-US" dirty="0"/>
              <a:t>than or equal to 	x &gt;= y 	</a:t>
            </a:r>
          </a:p>
          <a:p>
            <a:pPr marL="0" indent="0">
              <a:buNone/>
            </a:pPr>
            <a:r>
              <a:rPr lang="en-US" dirty="0"/>
              <a:t>&lt;= 	</a:t>
            </a:r>
            <a:r>
              <a:rPr lang="en-US" dirty="0" smtClean="0"/>
              <a:t>	Less </a:t>
            </a:r>
            <a:r>
              <a:rPr lang="en-US" dirty="0"/>
              <a:t>than or equal to 	x &lt;= 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936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92285"/>
          </a:xfrm>
        </p:spPr>
        <p:txBody>
          <a:bodyPr/>
          <a:lstStyle/>
          <a:p>
            <a:r>
              <a:rPr lang="en-US" dirty="0" smtClean="0"/>
              <a:t>Logical operators are used to combine conditional statements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and  	Returns True if both statements are true 	</a:t>
            </a:r>
            <a:r>
              <a:rPr lang="en-US" sz="2400" dirty="0" smtClean="0"/>
              <a:t>	x </a:t>
            </a:r>
            <a:r>
              <a:rPr lang="en-US" sz="2400" dirty="0"/>
              <a:t>&lt; 5 and  x &lt; 10 	</a:t>
            </a:r>
          </a:p>
          <a:p>
            <a:pPr marL="0" indent="0">
              <a:buNone/>
            </a:pPr>
            <a:r>
              <a:rPr lang="en-US" sz="2400" dirty="0"/>
              <a:t>or 	Returns True if one of the statements is true 	</a:t>
            </a:r>
            <a:r>
              <a:rPr lang="en-US" sz="2400" dirty="0" smtClean="0"/>
              <a:t>x </a:t>
            </a:r>
            <a:r>
              <a:rPr lang="en-US" sz="2400" dirty="0"/>
              <a:t>&lt; 5 or x &lt; 4 	</a:t>
            </a:r>
          </a:p>
          <a:p>
            <a:pPr marL="0" indent="0">
              <a:buNone/>
            </a:pPr>
            <a:r>
              <a:rPr lang="en-US" sz="2400" dirty="0"/>
              <a:t>not 	Reverse the result, returns False if the result is true 	not(x &lt; 5 and x &lt; 10)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477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715"/>
          </a:xfrm>
        </p:spPr>
        <p:txBody>
          <a:bodyPr/>
          <a:lstStyle/>
          <a:p>
            <a:r>
              <a:rPr lang="en-US" dirty="0"/>
              <a:t>Bitwise 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983479"/>
          </a:xfrm>
        </p:spPr>
        <p:txBody>
          <a:bodyPr>
            <a:normAutofit/>
          </a:bodyPr>
          <a:lstStyle/>
          <a:p>
            <a:r>
              <a:rPr lang="en-US" dirty="0"/>
              <a:t>Bitwise operator works on bits and performs bit-by-bit </a:t>
            </a:r>
            <a:r>
              <a:rPr lang="en-US" dirty="0" smtClean="0"/>
              <a:t>operation. </a:t>
            </a:r>
          </a:p>
          <a:p>
            <a:r>
              <a:rPr lang="en-US" dirty="0"/>
              <a:t>&amp; </a:t>
            </a:r>
            <a:r>
              <a:rPr lang="en-US" dirty="0" smtClean="0"/>
              <a:t>   </a:t>
            </a:r>
            <a:r>
              <a:rPr lang="en-US" dirty="0"/>
              <a:t>	Operator copies a bit, to the result, if it exists in both operands	</a:t>
            </a:r>
          </a:p>
          <a:p>
            <a:r>
              <a:rPr lang="en-US" dirty="0"/>
              <a:t>| 	It copies a bit, if it exists in either operand.	</a:t>
            </a:r>
            <a:endParaRPr lang="en-US" dirty="0" smtClean="0"/>
          </a:p>
          <a:p>
            <a:r>
              <a:rPr lang="en-US" dirty="0" smtClean="0"/>
              <a:t>^ </a:t>
            </a:r>
            <a:r>
              <a:rPr lang="en-US" dirty="0"/>
              <a:t>	It copies the bit, if it is set in one operand but not both.	</a:t>
            </a:r>
          </a:p>
          <a:p>
            <a:r>
              <a:rPr lang="en-US" dirty="0"/>
              <a:t>~ </a:t>
            </a:r>
            <a:r>
              <a:rPr lang="en-US" dirty="0" smtClean="0"/>
              <a:t>      It </a:t>
            </a:r>
            <a:r>
              <a:rPr lang="en-US" dirty="0"/>
              <a:t>is unary and has the effect of 'flipping' bits.	</a:t>
            </a:r>
          </a:p>
          <a:p>
            <a:r>
              <a:rPr lang="en-US" dirty="0" smtClean="0"/>
              <a:t>a&lt;&lt; n    Binary </a:t>
            </a:r>
            <a:r>
              <a:rPr lang="en-US" dirty="0"/>
              <a:t>Left Shift	The left operand's value is moved left by the number of bits specified by the right operand.	</a:t>
            </a:r>
          </a:p>
          <a:p>
            <a:r>
              <a:rPr lang="en-US" dirty="0" smtClean="0"/>
              <a:t>a&gt;&gt;2 </a:t>
            </a:r>
            <a:r>
              <a:rPr lang="en-US" dirty="0"/>
              <a:t>Binary Right Shift	The left operand's value is moved right by the number of bits specified by the right operand.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117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Assignment Operators  y=y+z+3   y+=(z+3)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032125"/>
              </p:ext>
            </p:extLst>
          </p:nvPr>
        </p:nvGraphicFramePr>
        <p:xfrm>
          <a:off x="838200" y="2248694"/>
          <a:ext cx="8334376" cy="3627120"/>
        </p:xfrm>
        <a:graphic>
          <a:graphicData uri="http://schemas.openxmlformats.org/drawingml/2006/table">
            <a:tbl>
              <a:tblPr/>
              <a:tblGrid>
                <a:gridCol w="2083594"/>
                <a:gridCol w="2083594"/>
                <a:gridCol w="2083594"/>
                <a:gridCol w="2083594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= 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x = 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Try it »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+=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+=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= x + 3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 smtClean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Ty=z+3ry </a:t>
                      </a:r>
                      <a:r>
                        <a:rPr lang="en-IN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it »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-=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-=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x = x - 3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Try it »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*=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*=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x = x *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Try it »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/=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/=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= x /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Try it »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%=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x %=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= x %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Try it »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effectLst/>
                        </a:rPr>
                        <a:t>//=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//=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</a:rPr>
                        <a:t>x = x // 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282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Membership </a:t>
            </a:r>
            <a:r>
              <a:rPr lang="en-US" dirty="0" smtClean="0"/>
              <a:t>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Python’s </a:t>
            </a:r>
            <a:r>
              <a:rPr lang="en-US" dirty="0"/>
              <a:t>membership operators test for membership in a sequence, such as strings, lists, or tuples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242411"/>
              </p:ext>
            </p:extLst>
          </p:nvPr>
        </p:nvGraphicFramePr>
        <p:xfrm>
          <a:off x="990599" y="3413760"/>
          <a:ext cx="9982200" cy="1767840"/>
        </p:xfrm>
        <a:graphic>
          <a:graphicData uri="http://schemas.openxmlformats.org/drawingml/2006/table">
            <a:tbl>
              <a:tblPr/>
              <a:tblGrid>
                <a:gridCol w="3327400"/>
                <a:gridCol w="6334761"/>
                <a:gridCol w="320039"/>
              </a:tblGrid>
              <a:tr h="770414">
                <a:tc>
                  <a:txBody>
                    <a:bodyPr/>
                    <a:lstStyle/>
                    <a:p>
                      <a:pPr fontAlgn="t"/>
                      <a:r>
                        <a:rPr lang="en-IN" sz="2400" dirty="0">
                          <a:effectLst/>
                        </a:rPr>
                        <a:t>in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Evaluates to true if it finds a variable in the specified sequence and false otherwise.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sz="2400" dirty="0">
                          <a:effectLst/>
                        </a:rPr>
                        <a:t>not in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Evaluates to true if it does not finds a variable in the specified sequence and false otherwise.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773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smtClean="0"/>
              <a:t>Example: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smtClean="0"/>
              <a:t>   x </a:t>
            </a:r>
            <a:r>
              <a:rPr lang="it-IT" dirty="0"/>
              <a:t>= ["apple", "banana"]</a:t>
            </a:r>
          </a:p>
          <a:p>
            <a:pPr marL="0" indent="0">
              <a:buNone/>
            </a:pPr>
            <a:r>
              <a:rPr lang="it-IT" dirty="0" smtClean="0"/>
              <a:t>   print</a:t>
            </a:r>
            <a:r>
              <a:rPr lang="it-IT" dirty="0"/>
              <a:t>("banana" in x</a:t>
            </a:r>
            <a:r>
              <a:rPr lang="it-IT" dirty="0" smtClean="0"/>
              <a:t>)</a:t>
            </a:r>
          </a:p>
          <a:p>
            <a:pPr marL="0" indent="0">
              <a:buNone/>
            </a:pPr>
            <a:r>
              <a:rPr lang="it-IT" dirty="0"/>
              <a:t> </a:t>
            </a:r>
            <a:r>
              <a:rPr lang="it-IT" dirty="0" smtClean="0"/>
              <a:t>  print(</a:t>
            </a:r>
            <a:r>
              <a:rPr lang="it-IT" dirty="0"/>
              <a:t>"</a:t>
            </a:r>
            <a:r>
              <a:rPr lang="it-IT" dirty="0" smtClean="0"/>
              <a:t>mango" </a:t>
            </a:r>
            <a:r>
              <a:rPr lang="it-IT" dirty="0"/>
              <a:t>in x)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078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operators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18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Identity operators compare the memory locations of two objects.</a:t>
            </a:r>
            <a:endParaRPr lang="en-IN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0344548"/>
              </p:ext>
            </p:extLst>
          </p:nvPr>
        </p:nvGraphicFramePr>
        <p:xfrm>
          <a:off x="838200" y="2956560"/>
          <a:ext cx="10789920" cy="2987040"/>
        </p:xfrm>
        <a:graphic>
          <a:graphicData uri="http://schemas.openxmlformats.org/drawingml/2006/table">
            <a:tbl>
              <a:tblPr/>
              <a:tblGrid>
                <a:gridCol w="2087880"/>
                <a:gridCol w="5105400"/>
                <a:gridCol w="3596640"/>
              </a:tblGrid>
              <a:tr h="1493520">
                <a:tc>
                  <a:txBody>
                    <a:bodyPr/>
                    <a:lstStyle/>
                    <a:p>
                      <a:pPr fontAlgn="t"/>
                      <a:r>
                        <a:rPr lang="en-IN" sz="2400" dirty="0">
                          <a:effectLst/>
                        </a:rPr>
                        <a:t>is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Evaluates to true if the variables on either side of the operator point to the same object and false otherwise.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x is y, here </a:t>
                      </a:r>
                      <a:r>
                        <a:rPr lang="en-US" sz="2400" b="1" dirty="0">
                          <a:effectLst/>
                        </a:rPr>
                        <a:t>is</a:t>
                      </a:r>
                      <a:r>
                        <a:rPr lang="en-US" sz="2400" dirty="0">
                          <a:effectLst/>
                        </a:rPr>
                        <a:t> results in </a:t>
                      </a:r>
                      <a:r>
                        <a:rPr lang="en-US" sz="2400" dirty="0" smtClean="0">
                          <a:effectLst/>
                        </a:rPr>
                        <a:t>True </a:t>
                      </a:r>
                      <a:r>
                        <a:rPr lang="en-US" sz="2400" dirty="0">
                          <a:effectLst/>
                        </a:rPr>
                        <a:t>if id(x) equals id(y).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is not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Evaluates to false if the variables on either side of the operator point to the same object and true otherwise.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x is not y, here </a:t>
                      </a:r>
                      <a:r>
                        <a:rPr lang="en-US" sz="2400" b="1" dirty="0">
                          <a:effectLst/>
                        </a:rPr>
                        <a:t>is not</a:t>
                      </a:r>
                      <a:r>
                        <a:rPr lang="en-US" sz="2400" dirty="0">
                          <a:effectLst/>
                        </a:rPr>
                        <a:t> results in </a:t>
                      </a:r>
                      <a:r>
                        <a:rPr lang="en-US" sz="2400" dirty="0" smtClean="0">
                          <a:effectLst/>
                        </a:rPr>
                        <a:t>True </a:t>
                      </a:r>
                      <a:r>
                        <a:rPr lang="en-US" sz="2400" dirty="0">
                          <a:effectLst/>
                        </a:rPr>
                        <a:t>if id(x) is not equal to id(y).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515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" y="636904"/>
            <a:ext cx="10515600" cy="5718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Example</a:t>
            </a:r>
          </a:p>
          <a:p>
            <a:endParaRPr lang="en-US" dirty="0"/>
          </a:p>
          <a:p>
            <a:r>
              <a:rPr lang="en-US" dirty="0" smtClean="0"/>
              <a:t>x </a:t>
            </a:r>
            <a:r>
              <a:rPr lang="en-US" dirty="0"/>
              <a:t>= ["apple", "banana"]</a:t>
            </a:r>
          </a:p>
          <a:p>
            <a:r>
              <a:rPr lang="en-US" dirty="0"/>
              <a:t>y = ["apple", "banana</a:t>
            </a:r>
            <a:r>
              <a:rPr lang="en-US" dirty="0" smtClean="0"/>
              <a:t>"]</a:t>
            </a:r>
          </a:p>
          <a:p>
            <a:r>
              <a:rPr lang="en-US" dirty="0"/>
              <a:t>u = ["apple", "banana"]</a:t>
            </a:r>
          </a:p>
          <a:p>
            <a:r>
              <a:rPr lang="en-US" dirty="0"/>
              <a:t>z = x</a:t>
            </a:r>
          </a:p>
          <a:p>
            <a:endParaRPr lang="en-US" dirty="0"/>
          </a:p>
          <a:p>
            <a:r>
              <a:rPr lang="en-US" dirty="0"/>
              <a:t>print(x is z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print(x is y</a:t>
            </a:r>
            <a:r>
              <a:rPr lang="en-US" dirty="0" smtClean="0"/>
              <a:t>)</a:t>
            </a:r>
          </a:p>
          <a:p>
            <a:r>
              <a:rPr lang="nl-NL" dirty="0"/>
              <a:t>print(x == u)</a:t>
            </a:r>
          </a:p>
          <a:p>
            <a:r>
              <a:rPr lang="nl-NL" dirty="0"/>
              <a:t>print(x is u)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355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5368"/>
            <a:ext cx="3703320" cy="514159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Operator </a:t>
            </a:r>
            <a:r>
              <a:rPr lang="en-IN" dirty="0" smtClean="0"/>
              <a:t>Precedence</a:t>
            </a:r>
          </a:p>
          <a:p>
            <a:r>
              <a:rPr lang="en-US" dirty="0" smtClean="0"/>
              <a:t>used to </a:t>
            </a:r>
            <a:r>
              <a:rPr lang="en-US" dirty="0"/>
              <a:t>determine which operation to perform </a:t>
            </a:r>
            <a:r>
              <a:rPr lang="en-US" dirty="0" smtClean="0"/>
              <a:t>first </a:t>
            </a:r>
            <a:r>
              <a:rPr lang="en-US" dirty="0"/>
              <a:t>in an expression with more than one operator with different precedence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560" y="1035368"/>
            <a:ext cx="713232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61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995"/>
          </a:xfrm>
        </p:spPr>
        <p:txBody>
          <a:bodyPr/>
          <a:lstStyle/>
          <a:p>
            <a:r>
              <a:rPr lang="en-IN" dirty="0" smtClean="0"/>
              <a:t>Operator Precedence in python</a:t>
            </a:r>
            <a:endParaRPr lang="en-IN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434078"/>
              </p:ext>
            </p:extLst>
          </p:nvPr>
        </p:nvGraphicFramePr>
        <p:xfrm>
          <a:off x="2057400" y="1722892"/>
          <a:ext cx="8686800" cy="4790380"/>
        </p:xfrm>
        <a:graphic>
          <a:graphicData uri="http://schemas.openxmlformats.org/drawingml/2006/table">
            <a:tbl>
              <a:tblPr/>
              <a:tblGrid>
                <a:gridCol w="1082040"/>
                <a:gridCol w="7604760"/>
              </a:tblGrid>
              <a:tr h="801585">
                <a:tc>
                  <a:txBody>
                    <a:bodyPr/>
                    <a:lstStyle/>
                    <a:p>
                      <a:pPr fontAlgn="t"/>
                      <a:r>
                        <a:rPr lang="en-IN" sz="2800" dirty="0">
                          <a:effectLst/>
                        </a:rPr>
                        <a:t>1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</a:rPr>
                        <a:t>**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</a:rPr>
                        <a:t>Exponentiation (raise to the power)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1896">
                <a:tc>
                  <a:txBody>
                    <a:bodyPr/>
                    <a:lstStyle/>
                    <a:p>
                      <a:pPr fontAlgn="t"/>
                      <a:r>
                        <a:rPr lang="en-IN" sz="2800" dirty="0">
                          <a:effectLst/>
                        </a:rPr>
                        <a:t>2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</a:rPr>
                        <a:t>~ + -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</a:rPr>
                        <a:t>Complement, unary plus and minus (method names for the last two are +@ and -@)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585">
                <a:tc>
                  <a:txBody>
                    <a:bodyPr/>
                    <a:lstStyle/>
                    <a:p>
                      <a:pPr fontAlgn="t"/>
                      <a:r>
                        <a:rPr lang="en-IN" sz="2800">
                          <a:effectLst/>
                        </a:rPr>
                        <a:t>3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</a:rPr>
                        <a:t>* / % //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</a:rPr>
                        <a:t>Multiply, divide, modulo and floor division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063">
                <a:tc>
                  <a:txBody>
                    <a:bodyPr/>
                    <a:lstStyle/>
                    <a:p>
                      <a:pPr fontAlgn="t"/>
                      <a:r>
                        <a:rPr lang="en-IN" sz="2800">
                          <a:effectLst/>
                        </a:rPr>
                        <a:t>4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800" b="1" dirty="0">
                          <a:solidFill>
                            <a:srgbClr val="000000"/>
                          </a:solidFill>
                          <a:effectLst/>
                        </a:rPr>
                        <a:t>+ -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2800" dirty="0">
                          <a:solidFill>
                            <a:srgbClr val="000000"/>
                          </a:solidFill>
                          <a:effectLst/>
                        </a:rPr>
                        <a:t>Addition and subtraction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063">
                <a:tc>
                  <a:txBody>
                    <a:bodyPr/>
                    <a:lstStyle/>
                    <a:p>
                      <a:pPr fontAlgn="t"/>
                      <a:r>
                        <a:rPr lang="en-IN" sz="2800">
                          <a:effectLst/>
                        </a:rPr>
                        <a:t>5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</a:rPr>
                        <a:t>&gt;&gt; &lt;&lt;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</a:rPr>
                        <a:t>Right and left bitwise shift</a:t>
                      </a:r>
                    </a:p>
                  </a:txBody>
                  <a:tcPr marL="9646" marR="9646" marT="9646" marB="964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18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520597"/>
              </p:ext>
            </p:extLst>
          </p:nvPr>
        </p:nvGraphicFramePr>
        <p:xfrm>
          <a:off x="1722119" y="1021079"/>
          <a:ext cx="9128760" cy="4869975"/>
        </p:xfrm>
        <a:graphic>
          <a:graphicData uri="http://schemas.openxmlformats.org/drawingml/2006/table">
            <a:tbl>
              <a:tblPr/>
              <a:tblGrid>
                <a:gridCol w="1783081"/>
                <a:gridCol w="7345679"/>
              </a:tblGrid>
              <a:tr h="903302">
                <a:tc>
                  <a:txBody>
                    <a:bodyPr/>
                    <a:lstStyle/>
                    <a:p>
                      <a:pPr fontAlgn="t"/>
                      <a:r>
                        <a:rPr lang="en-IN" sz="2400" dirty="0">
                          <a:effectLst/>
                        </a:rPr>
                        <a:t>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400" b="1">
                          <a:solidFill>
                            <a:srgbClr val="000000"/>
                          </a:solidFill>
                          <a:effectLst/>
                        </a:rPr>
                        <a:t>&amp;</a:t>
                      </a:r>
                      <a:endParaRPr lang="en-IN" sz="2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</a:rPr>
                        <a:t>Bitwise 'AND'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6767">
                <a:tc>
                  <a:txBody>
                    <a:bodyPr/>
                    <a:lstStyle/>
                    <a:p>
                      <a:pPr fontAlgn="t"/>
                      <a:r>
                        <a:rPr lang="en-IN" sz="2400" dirty="0">
                          <a:effectLst/>
                        </a:rPr>
                        <a:t>7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^ |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</a:rPr>
                        <a:t>Bitwise exclusive `OR' and regular `OR'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3302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8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400" b="1" dirty="0">
                          <a:solidFill>
                            <a:srgbClr val="000000"/>
                          </a:solidFill>
                          <a:effectLst/>
                        </a:rPr>
                        <a:t>&lt;= &lt; &gt; &gt;=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Comparison operators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3302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9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400" b="1" dirty="0">
                          <a:solidFill>
                            <a:srgbClr val="000000"/>
                          </a:solidFill>
                          <a:effectLst/>
                        </a:rPr>
                        <a:t>&lt;&gt; == !=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Equality operators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3302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10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400" b="1" dirty="0">
                          <a:solidFill>
                            <a:srgbClr val="000000"/>
                          </a:solidFill>
                          <a:effectLst/>
                        </a:rPr>
                        <a:t>= %= /= //= -= += *= **=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</a:rPr>
                        <a:t>Assignment operators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835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357951"/>
              </p:ext>
            </p:extLst>
          </p:nvPr>
        </p:nvGraphicFramePr>
        <p:xfrm>
          <a:off x="2179320" y="1456214"/>
          <a:ext cx="8061959" cy="3017520"/>
        </p:xfrm>
        <a:graphic>
          <a:graphicData uri="http://schemas.openxmlformats.org/drawingml/2006/table">
            <a:tbl>
              <a:tblPr/>
              <a:tblGrid>
                <a:gridCol w="1402080"/>
                <a:gridCol w="6659879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sz="2800">
                          <a:effectLst/>
                        </a:rPr>
                        <a:t>11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b="1">
                          <a:solidFill>
                            <a:srgbClr val="000000"/>
                          </a:solidFill>
                          <a:effectLst/>
                        </a:rPr>
                        <a:t>is is not</a:t>
                      </a:r>
                      <a:endParaRPr lang="en-US" sz="28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</a:rPr>
                        <a:t>Identity operators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sz="2800">
                          <a:effectLst/>
                        </a:rPr>
                        <a:t>12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b="1">
                          <a:solidFill>
                            <a:srgbClr val="000000"/>
                          </a:solidFill>
                          <a:effectLst/>
                        </a:rPr>
                        <a:t>in not in</a:t>
                      </a:r>
                      <a:endParaRPr lang="en-US" sz="28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</a:rPr>
                        <a:t>Membership operators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sz="2800">
                          <a:effectLst/>
                        </a:rPr>
                        <a:t>13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</a:rPr>
                        <a:t>not or and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</a:rPr>
                        <a:t>Logical operators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346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Print()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print() function </a:t>
            </a:r>
            <a:r>
              <a:rPr lang="en-US" dirty="0" smtClean="0"/>
              <a:t>writes the </a:t>
            </a:r>
            <a:r>
              <a:rPr lang="en-US" dirty="0"/>
              <a:t>given object to the standard output device (screen) or to the text stream file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Print a message onto the screen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print</a:t>
            </a:r>
            <a:r>
              <a:rPr lang="en-IN" dirty="0"/>
              <a:t>("Hello World") </a:t>
            </a:r>
            <a:endParaRPr lang="en-IN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Print a </a:t>
            </a:r>
            <a:r>
              <a:rPr lang="en-US" dirty="0" smtClean="0"/>
              <a:t>more than one message </a:t>
            </a:r>
            <a:r>
              <a:rPr lang="en-US" dirty="0"/>
              <a:t>onto the screen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print</a:t>
            </a:r>
            <a:r>
              <a:rPr lang="en-US" dirty="0"/>
              <a:t>("Hello", "how are you?")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603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 python2 ; print is a used as a statement as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smtClean="0"/>
              <a:t>Example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Print ‘hello’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a=10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 print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920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Displaying values of variables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354" y="1825625"/>
            <a:ext cx="10166445" cy="4351338"/>
          </a:xfrm>
        </p:spPr>
        <p:txBody>
          <a:bodyPr/>
          <a:lstStyle/>
          <a:p>
            <a:r>
              <a:rPr lang="en-US" dirty="0"/>
              <a:t>a = 5</a:t>
            </a:r>
          </a:p>
          <a:p>
            <a:r>
              <a:rPr lang="en-US" dirty="0"/>
              <a:t># Two objects are passed</a:t>
            </a:r>
          </a:p>
          <a:p>
            <a:r>
              <a:rPr lang="en-US" dirty="0"/>
              <a:t>print("a =", a)</a:t>
            </a:r>
          </a:p>
          <a:p>
            <a:endParaRPr lang="en-US" dirty="0"/>
          </a:p>
          <a:p>
            <a:r>
              <a:rPr lang="en-US" dirty="0"/>
              <a:t>b = a</a:t>
            </a:r>
          </a:p>
          <a:p>
            <a:r>
              <a:rPr lang="en-US" dirty="0"/>
              <a:t># Three objects are passed</a:t>
            </a:r>
          </a:p>
          <a:p>
            <a:r>
              <a:rPr lang="en-US" dirty="0"/>
              <a:t>print('a =', a, '= b')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118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input ( prompt 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function first takes the input from the user </a:t>
            </a:r>
          </a:p>
          <a:p>
            <a:r>
              <a:rPr lang="en-US" dirty="0" smtClean="0"/>
              <a:t>If </a:t>
            </a:r>
            <a:r>
              <a:rPr lang="en-US" dirty="0"/>
              <a:t>the input provided is not correct then either syntax error or exception is raised by python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 smtClean="0"/>
              <a:t>                 </a:t>
            </a:r>
            <a:r>
              <a:rPr lang="en-IN" dirty="0" err="1" smtClean="0"/>
              <a:t>val</a:t>
            </a:r>
            <a:r>
              <a:rPr lang="en-IN" dirty="0" smtClean="0"/>
              <a:t> </a:t>
            </a:r>
            <a:r>
              <a:rPr lang="en-IN" dirty="0"/>
              <a:t>= input("Enter your value: ") </a:t>
            </a:r>
          </a:p>
          <a:p>
            <a:pPr marL="0" indent="0">
              <a:buNone/>
            </a:pPr>
            <a:r>
              <a:rPr lang="en-IN" dirty="0" smtClean="0"/>
              <a:t>                 print(</a:t>
            </a:r>
            <a:r>
              <a:rPr lang="en-IN" dirty="0" err="1" smtClean="0"/>
              <a:t>val</a:t>
            </a:r>
            <a:r>
              <a:rPr lang="en-IN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9117349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The </a:t>
            </a:r>
            <a:r>
              <a:rPr lang="en-IN" dirty="0" err="1" smtClean="0"/>
              <a:t>eval</a:t>
            </a:r>
            <a:r>
              <a:rPr lang="en-IN" dirty="0" smtClean="0"/>
              <a:t>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587"/>
            <a:ext cx="10515600" cy="4687376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err="1"/>
              <a:t>eval</a:t>
            </a:r>
            <a:r>
              <a:rPr lang="en-US" dirty="0"/>
              <a:t>() method parses the expression passed to this method and runs python expression (code) within the program</a:t>
            </a:r>
            <a:r>
              <a:rPr lang="en-US" dirty="0" smtClean="0"/>
              <a:t>.</a:t>
            </a:r>
            <a:endParaRPr lang="en-US" b="1" dirty="0"/>
          </a:p>
          <a:p>
            <a:r>
              <a:rPr lang="en-US" dirty="0"/>
              <a:t>The </a:t>
            </a:r>
            <a:r>
              <a:rPr lang="en-US" dirty="0" err="1"/>
              <a:t>eval</a:t>
            </a:r>
            <a:r>
              <a:rPr lang="en-US" dirty="0"/>
              <a:t>() function evaluates the specified expression, if the expression is a legal Python statement, it will be executed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                      </a:t>
            </a:r>
            <a:r>
              <a:rPr lang="en-US" b="1" dirty="0" err="1" smtClean="0"/>
              <a:t>eval</a:t>
            </a:r>
            <a:r>
              <a:rPr lang="en-US" b="1" dirty="0" smtClean="0"/>
              <a:t>(expression</a:t>
            </a:r>
            <a:r>
              <a:rPr lang="en-US" b="1" dirty="0"/>
              <a:t>, </a:t>
            </a:r>
            <a:r>
              <a:rPr lang="en-US" b="1" dirty="0" err="1"/>
              <a:t>globals</a:t>
            </a:r>
            <a:r>
              <a:rPr lang="en-US" b="1" dirty="0"/>
              <a:t>, locals)</a:t>
            </a:r>
          </a:p>
          <a:p>
            <a:r>
              <a:rPr lang="en-US" dirty="0" smtClean="0"/>
              <a:t>expression </a:t>
            </a:r>
            <a:r>
              <a:rPr lang="en-US" dirty="0"/>
              <a:t>	A String, that will be evaluated as Python code</a:t>
            </a:r>
          </a:p>
          <a:p>
            <a:r>
              <a:rPr lang="en-US" dirty="0" err="1"/>
              <a:t>globals</a:t>
            </a:r>
            <a:r>
              <a:rPr lang="en-US" dirty="0"/>
              <a:t> 	Optional. A dictionary containing global parameters</a:t>
            </a:r>
          </a:p>
          <a:p>
            <a:r>
              <a:rPr lang="en-US" dirty="0"/>
              <a:t>locals 	Optional. A dictionary containing local parameters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2018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 = 1</a:t>
            </a:r>
          </a:p>
          <a:p>
            <a:r>
              <a:rPr lang="en-IN" dirty="0"/>
              <a:t>print(</a:t>
            </a:r>
            <a:r>
              <a:rPr lang="en-IN" dirty="0" err="1"/>
              <a:t>eval</a:t>
            </a:r>
            <a:r>
              <a:rPr lang="en-IN" dirty="0"/>
              <a:t>('x + 1'))</a:t>
            </a:r>
          </a:p>
        </p:txBody>
      </p:sp>
    </p:spTree>
    <p:extLst>
      <p:ext uri="{BB962C8B-B14F-4D97-AF65-F5344CB8AC3E}">
        <p14:creationId xmlns:p14="http://schemas.microsoft.com/office/powerpoint/2010/main" val="427157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1688</Words>
  <Application>Microsoft Office PowerPoint</Application>
  <PresentationFormat>Widescreen</PresentationFormat>
  <Paragraphs>306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Verdana</vt:lpstr>
      <vt:lpstr>Office Theme</vt:lpstr>
      <vt:lpstr>Introduction to Python</vt:lpstr>
      <vt:lpstr>Python</vt:lpstr>
      <vt:lpstr>PowerPoint Presentation</vt:lpstr>
      <vt:lpstr>Applications</vt:lpstr>
      <vt:lpstr>PowerPoint Presentation</vt:lpstr>
      <vt:lpstr>PowerPoint Presentation</vt:lpstr>
      <vt:lpstr>Comments</vt:lpstr>
      <vt:lpstr>Identifiers</vt:lpstr>
      <vt:lpstr>Identifier conventions   A__a-&gt;B a</vt:lpstr>
      <vt:lpstr>Keywords </vt:lpstr>
      <vt:lpstr>Variables  a=“abcd”</vt:lpstr>
      <vt:lpstr>Global variables</vt:lpstr>
      <vt:lpstr>Data Types</vt:lpstr>
      <vt:lpstr>Type function</vt:lpstr>
      <vt:lpstr>Number</vt:lpstr>
      <vt:lpstr>PowerPoint Presentation</vt:lpstr>
      <vt:lpstr>boolean</vt:lpstr>
      <vt:lpstr>None</vt:lpstr>
      <vt:lpstr>Assigning Values to Variables</vt:lpstr>
      <vt:lpstr>Multiple Assignment</vt:lpstr>
      <vt:lpstr>Operators</vt:lpstr>
      <vt:lpstr>PowerPoint Presentation</vt:lpstr>
      <vt:lpstr>Comparison Operator</vt:lpstr>
      <vt:lpstr>Logical operators</vt:lpstr>
      <vt:lpstr>Bitwise operator</vt:lpstr>
      <vt:lpstr>Assignment Operators  y=y+z+3   y+=(z+3)</vt:lpstr>
      <vt:lpstr>Python Membership Operators</vt:lpstr>
      <vt:lpstr>PowerPoint Presentation</vt:lpstr>
      <vt:lpstr>Identity operators</vt:lpstr>
      <vt:lpstr>PowerPoint Presentation</vt:lpstr>
      <vt:lpstr>PowerPoint Presentation</vt:lpstr>
      <vt:lpstr>Operator Precedence in python</vt:lpstr>
      <vt:lpstr>PowerPoint Presentation</vt:lpstr>
      <vt:lpstr> </vt:lpstr>
      <vt:lpstr>Print()</vt:lpstr>
      <vt:lpstr>PowerPoint Presentation</vt:lpstr>
      <vt:lpstr>Displaying values of variables</vt:lpstr>
      <vt:lpstr>input ( prompt )</vt:lpstr>
      <vt:lpstr>The eval()</vt:lpstr>
      <vt:lpstr>example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Windows User</dc:creator>
  <cp:lastModifiedBy>mubeena</cp:lastModifiedBy>
  <cp:revision>94</cp:revision>
  <dcterms:created xsi:type="dcterms:W3CDTF">2020-10-13T13:22:27Z</dcterms:created>
  <dcterms:modified xsi:type="dcterms:W3CDTF">2022-12-13T09:36:18Z</dcterms:modified>
</cp:coreProperties>
</file>